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4" r:id="rId6"/>
    <p:sldId id="265" r:id="rId7"/>
    <p:sldId id="266" r:id="rId8"/>
    <p:sldId id="270" r:id="rId9"/>
    <p:sldId id="271" r:id="rId10"/>
    <p:sldId id="272" r:id="rId11"/>
    <p:sldId id="273" r:id="rId12"/>
    <p:sldId id="259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6381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054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7725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367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6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594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424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712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048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606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5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2FC17D-4DF4-4639-B37D-DEF3C3A43755}" type="datetimeFigureOut">
              <a:rPr lang="es-MX" smtClean="0"/>
              <a:t>07/10/2026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AD1F522-80D5-45E0-82DC-9DAD9D3321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881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C7DCAFF7-B839-7152-5C0D-5F79C7CBD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27355"/>
            <a:ext cx="9144000" cy="5319251"/>
          </a:xfrm>
        </p:spPr>
        <p:txBody>
          <a:bodyPr>
            <a:normAutofit fontScale="92500" lnSpcReduction="20000"/>
          </a:bodyPr>
          <a:lstStyle/>
          <a:p>
            <a:r>
              <a:rPr lang="es-MX" b="1" dirty="0"/>
              <a:t>INSTITUTO TECNOLÓGICO DE MÉXICO</a:t>
            </a:r>
            <a:br>
              <a:rPr lang="es-MX" dirty="0"/>
            </a:br>
            <a:br>
              <a:rPr lang="es-MX" dirty="0"/>
            </a:br>
            <a:r>
              <a:rPr lang="es-MX" b="1" dirty="0"/>
              <a:t>INSTITUTO TECNOLÓGICO DE FRONTERA COMALAPA</a:t>
            </a:r>
            <a:r>
              <a:rPr lang="es-MX" dirty="0"/>
              <a:t> </a:t>
            </a:r>
            <a:br>
              <a:rPr lang="es-MX" dirty="0"/>
            </a:br>
            <a:br>
              <a:rPr lang="es-MX" dirty="0"/>
            </a:br>
            <a:r>
              <a:rPr lang="es-MX" b="1" dirty="0"/>
              <a:t>CARRERA: ING. SISTEMAS COMPUTACIONALES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SEMESTRE: TERCERO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MATERIA: ESTRUCTURA DE DATOS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TEMA: PILAS, COLAS Y LISTAS</a:t>
            </a:r>
          </a:p>
          <a:p>
            <a:r>
              <a:rPr lang="es-MX" b="1" dirty="0"/>
              <a:t>ACTIVIDAD: REPORTE DE PRACTICA</a:t>
            </a:r>
            <a:br>
              <a:rPr lang="es-MX" b="1" dirty="0"/>
            </a:br>
            <a:r>
              <a:rPr lang="es-MX" b="1" dirty="0"/>
              <a:t> </a:t>
            </a:r>
            <a:br>
              <a:rPr lang="es-MX" b="1" dirty="0"/>
            </a:br>
            <a:r>
              <a:rPr lang="es-MX" b="1" dirty="0"/>
              <a:t>DOCENTE: ING FRANCISCO JAVIER MINGO VELAZQUEZ</a:t>
            </a:r>
          </a:p>
          <a:p>
            <a:r>
              <a:rPr lang="es-MX" b="1" dirty="0"/>
              <a:t>ALUMNA: MARISOL LOPEZ RAMIREZ</a:t>
            </a:r>
          </a:p>
          <a:p>
            <a:r>
              <a:rPr lang="es-MX" b="1" dirty="0"/>
              <a:t>NUM. CONTROL: 251260194</a:t>
            </a:r>
          </a:p>
          <a:p>
            <a:br>
              <a:rPr lang="es-MX" b="1" dirty="0"/>
            </a:br>
            <a:r>
              <a:rPr lang="es-MX" b="1" dirty="0"/>
              <a:t> </a:t>
            </a:r>
            <a:br>
              <a:rPr lang="es-MX" b="1" dirty="0"/>
            </a:br>
            <a:r>
              <a:rPr lang="es-MX" b="1" dirty="0"/>
              <a:t>FRONTERA COMALAPA CHIAPAS A 23 SEPTIEMBRE 2026</a:t>
            </a:r>
            <a:endParaRPr lang="es-MX" dirty="0"/>
          </a:p>
          <a:p>
            <a:endParaRPr lang="es-MX" dirty="0"/>
          </a:p>
        </p:txBody>
      </p:sp>
      <p:pic>
        <p:nvPicPr>
          <p:cNvPr id="5" name="Imagen 13">
            <a:extLst>
              <a:ext uri="{FF2B5EF4-FFF2-40B4-BE49-F238E27FC236}">
                <a16:creationId xmlns:a16="http://schemas.microsoft.com/office/drawing/2014/main" id="{71CE1C82-0A36-4F30-0B54-3D1A9001D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535" y="301783"/>
            <a:ext cx="2027238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4" descr="Ver las imágenes de origen">
            <a:extLst>
              <a:ext uri="{FF2B5EF4-FFF2-40B4-BE49-F238E27FC236}">
                <a16:creationId xmlns:a16="http://schemas.microsoft.com/office/drawing/2014/main" id="{F1F6DAEC-6C95-749B-6EA9-3551CE0D4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8879" y="305117"/>
            <a:ext cx="1477962" cy="6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12">
            <a:extLst>
              <a:ext uri="{FF2B5EF4-FFF2-40B4-BE49-F238E27FC236}">
                <a16:creationId xmlns:a16="http://schemas.microsoft.com/office/drawing/2014/main" id="{905032BD-FF8C-C69B-155B-D6571FE7A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172" y="301783"/>
            <a:ext cx="1143000" cy="8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81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9CDB6-1EE7-58CD-D8B8-280F73EC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28C97-E187-04C0-82DA-71573236B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proyecto hice una aplicación en Java llamada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MenuReursividad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La hice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tiene un menú principal que te manda a 4 ventanas: Listas, Pilas, Colas y Recursividad. Y verifique de que el menú funcionara al igual de que el modulo de pilas funcione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605176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D68B4-607A-4C34-45C6-359DB1BA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F9384-0BC6-B237-A64B-E18109951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 hice así porque es más fácil entender las estructuras de datos cuando las ves funcionando. Por ejemplo en la pila, en lugar de solo imaginarlo, ahí mismo ves cómo entra y sale el dato con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pop. También lo hice para practicar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2100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9814E3-0E1C-BEE0-3994-A8668314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528"/>
          <a:stretch>
            <a:fillRect/>
          </a:stretch>
        </p:blipFill>
        <p:spPr>
          <a:xfrm>
            <a:off x="4769434" y="10351"/>
            <a:ext cx="3958936" cy="68476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A74F04-5815-A2A5-382D-AF424138BB5C}"/>
              </a:ext>
            </a:extLst>
          </p:cNvPr>
          <p:cNvSpPr txBox="1"/>
          <p:nvPr/>
        </p:nvSpPr>
        <p:spPr>
          <a:xfrm>
            <a:off x="9788244" y="3334434"/>
            <a:ext cx="2275602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dirty="0"/>
              <a:t>Cada módulo tiene su controlador .java y su vista .</a:t>
            </a:r>
            <a:r>
              <a:rPr lang="es-MX" dirty="0" err="1"/>
              <a:t>fxml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EE676F-A9DF-8632-1096-CB845961B57B}"/>
              </a:ext>
            </a:extLst>
          </p:cNvPr>
          <p:cNvSpPr txBox="1"/>
          <p:nvPr/>
        </p:nvSpPr>
        <p:spPr>
          <a:xfrm>
            <a:off x="124690" y="279507"/>
            <a:ext cx="4140777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sz="1800" dirty="0"/>
              <a:t>Se realizó un proyecto en Java llamado </a:t>
            </a:r>
            <a:r>
              <a:rPr lang="es-MX" sz="1800" dirty="0" err="1"/>
              <a:t>MenuReursividad</a:t>
            </a:r>
            <a:r>
              <a:rPr lang="es-MX" sz="1800" dirty="0"/>
              <a:t>. Es una aplicación con menú hecho en </a:t>
            </a:r>
            <a:r>
              <a:rPr lang="es-MX" sz="1800" dirty="0" err="1"/>
              <a:t>JavaFX</a:t>
            </a:r>
            <a:r>
              <a:rPr lang="es-MX" sz="1800" dirty="0"/>
              <a:t>.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576DA8-4E18-CD38-5DEB-891C77F88F42}"/>
              </a:ext>
            </a:extLst>
          </p:cNvPr>
          <p:cNvSpPr txBox="1"/>
          <p:nvPr/>
        </p:nvSpPr>
        <p:spPr>
          <a:xfrm>
            <a:off x="226002" y="2228671"/>
            <a:ext cx="4501861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sz="1800" dirty="0"/>
              <a:t>Listas: para ver cómo funcionan las listas</a:t>
            </a:r>
          </a:p>
          <a:p>
            <a:r>
              <a:rPr lang="es-MX" sz="1800" dirty="0"/>
              <a:t>Pilas (Stack)</a:t>
            </a:r>
            <a:r>
              <a:rPr lang="es-MX" dirty="0"/>
              <a:t>: </a:t>
            </a:r>
            <a:r>
              <a:rPr lang="es-MX" sz="1800" dirty="0"/>
              <a:t>para hacer </a:t>
            </a:r>
            <a:r>
              <a:rPr lang="es-MX" sz="1800" dirty="0" err="1"/>
              <a:t>push</a:t>
            </a:r>
            <a:r>
              <a:rPr lang="es-MX" sz="1800" dirty="0"/>
              <a:t> y </a:t>
            </a:r>
            <a:r>
              <a:rPr lang="es-MX" sz="1800" dirty="0" err="1"/>
              <a:t>popColas</a:t>
            </a:r>
            <a:endParaRPr lang="es-MX" sz="1800" dirty="0"/>
          </a:p>
          <a:p>
            <a:r>
              <a:rPr lang="es-MX" sz="1800" dirty="0"/>
              <a:t> (</a:t>
            </a:r>
            <a:r>
              <a:rPr lang="es-MX" sz="1800" dirty="0" err="1"/>
              <a:t>Queue</a:t>
            </a:r>
            <a:r>
              <a:rPr lang="es-MX" sz="1800" dirty="0"/>
              <a:t>): para hacer cola</a:t>
            </a:r>
          </a:p>
          <a:p>
            <a:r>
              <a:rPr lang="es-MX" sz="1800" dirty="0"/>
              <a:t>Recursividad: </a:t>
            </a:r>
            <a:r>
              <a:rPr lang="es-MX" dirty="0"/>
              <a:t>para ejemplos como factorial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763DA73-0E75-8372-1E93-B690A699CE8A}"/>
              </a:ext>
            </a:extLst>
          </p:cNvPr>
          <p:cNvSpPr/>
          <p:nvPr/>
        </p:nvSpPr>
        <p:spPr>
          <a:xfrm>
            <a:off x="5829300" y="2228671"/>
            <a:ext cx="312419" cy="732738"/>
          </a:xfrm>
          <a:prstGeom prst="leftBrace">
            <a:avLst>
              <a:gd name="adj1" fmla="val 44919"/>
              <a:gd name="adj2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A23E05E-33CF-55B7-D2FE-D70CF3397DE4}"/>
              </a:ext>
            </a:extLst>
          </p:cNvPr>
          <p:cNvCxnSpPr>
            <a:stCxn id="9" idx="3"/>
          </p:cNvCxnSpPr>
          <p:nvPr/>
        </p:nvCxnSpPr>
        <p:spPr>
          <a:xfrm flipV="1">
            <a:off x="4727863" y="2587336"/>
            <a:ext cx="997528" cy="241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92B77C56-2374-7DB0-1D58-23D79571D2A2}"/>
              </a:ext>
            </a:extLst>
          </p:cNvPr>
          <p:cNvSpPr/>
          <p:nvPr/>
        </p:nvSpPr>
        <p:spPr>
          <a:xfrm>
            <a:off x="7190508" y="4135582"/>
            <a:ext cx="311727" cy="1028700"/>
          </a:xfrm>
          <a:prstGeom prst="rightBrace">
            <a:avLst>
              <a:gd name="adj1" fmla="val 25574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8D5520D-6FEF-E89D-BD68-6DCA7C67BAB1}"/>
              </a:ext>
            </a:extLst>
          </p:cNvPr>
          <p:cNvCxnSpPr>
            <a:stCxn id="13" idx="1"/>
            <a:endCxn id="5" idx="1"/>
          </p:cNvCxnSpPr>
          <p:nvPr/>
        </p:nvCxnSpPr>
        <p:spPr>
          <a:xfrm flipV="1">
            <a:off x="7502235" y="3796099"/>
            <a:ext cx="2286009" cy="853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047A22D-A5A7-A5F3-8049-DA1BE428FCA9}"/>
              </a:ext>
            </a:extLst>
          </p:cNvPr>
          <p:cNvCxnSpPr/>
          <p:nvPr/>
        </p:nvCxnSpPr>
        <p:spPr>
          <a:xfrm>
            <a:off x="6712527" y="2130136"/>
            <a:ext cx="2919846" cy="14755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18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3705241-3AE1-A423-215C-68B5BAE9B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6"/>
          <a:stretch>
            <a:fillRect/>
          </a:stretch>
        </p:blipFill>
        <p:spPr>
          <a:xfrm>
            <a:off x="0" y="0"/>
            <a:ext cx="10528245" cy="59131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46DDE1B-80D3-684B-EB67-1F86392B4CC7}"/>
              </a:ext>
            </a:extLst>
          </p:cNvPr>
          <p:cNvSpPr txBox="1"/>
          <p:nvPr/>
        </p:nvSpPr>
        <p:spPr>
          <a:xfrm>
            <a:off x="7793710" y="1953304"/>
            <a:ext cx="4398290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Como podemos observar es un lanzador de ventanas para los 4 módulos: </a:t>
            </a:r>
          </a:p>
          <a:p>
            <a:r>
              <a:rPr lang="es-MX" dirty="0"/>
              <a:t>Listas, </a:t>
            </a:r>
          </a:p>
          <a:p>
            <a:r>
              <a:rPr lang="es-MX" dirty="0"/>
              <a:t>Pilas, </a:t>
            </a:r>
          </a:p>
          <a:p>
            <a:r>
              <a:rPr lang="es-MX" dirty="0"/>
              <a:t>Colas </a:t>
            </a:r>
          </a:p>
          <a:p>
            <a:r>
              <a:rPr lang="es-MX" dirty="0"/>
              <a:t>Recursividad.</a:t>
            </a:r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BCC0A583-FC12-BEE6-CFD6-D4DD18FFC7D1}"/>
              </a:ext>
            </a:extLst>
          </p:cNvPr>
          <p:cNvSpPr/>
          <p:nvPr/>
        </p:nvSpPr>
        <p:spPr>
          <a:xfrm>
            <a:off x="6278880" y="1503680"/>
            <a:ext cx="1473200" cy="4023360"/>
          </a:xfrm>
          <a:prstGeom prst="rightBrace">
            <a:avLst>
              <a:gd name="adj1" fmla="val 2902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803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CB07D8-6DB4-811D-1991-32A09D269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6" y="957354"/>
            <a:ext cx="10494290" cy="590064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8DBE4C4-33EA-2F18-C2B9-00740782D3A6}"/>
              </a:ext>
            </a:extLst>
          </p:cNvPr>
          <p:cNvSpPr txBox="1"/>
          <p:nvPr/>
        </p:nvSpPr>
        <p:spPr>
          <a:xfrm>
            <a:off x="1269357" y="208485"/>
            <a:ext cx="439829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Es la segunda parte de nuestro lanzador de ventanas</a:t>
            </a:r>
          </a:p>
        </p:txBody>
      </p:sp>
    </p:spTree>
    <p:extLst>
      <p:ext uri="{BB962C8B-B14F-4D97-AF65-F5344CB8AC3E}">
        <p14:creationId xmlns:p14="http://schemas.microsoft.com/office/powerpoint/2010/main" val="325923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322E87-24C9-EB15-CB41-062572929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86" y="810491"/>
            <a:ext cx="10753013" cy="604611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C7C4DD0-3EA1-73A4-884C-5A0DCA4CAE8E}"/>
              </a:ext>
            </a:extLst>
          </p:cNvPr>
          <p:cNvSpPr txBox="1"/>
          <p:nvPr/>
        </p:nvSpPr>
        <p:spPr>
          <a:xfrm>
            <a:off x="2098964" y="374073"/>
            <a:ext cx="3800143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Así es como quedaría nuestro menú </a:t>
            </a:r>
          </a:p>
        </p:txBody>
      </p:sp>
    </p:spTree>
    <p:extLst>
      <p:ext uri="{BB962C8B-B14F-4D97-AF65-F5344CB8AC3E}">
        <p14:creationId xmlns:p14="http://schemas.microsoft.com/office/powerpoint/2010/main" val="81645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380266-E8FC-CA31-01B6-98EB10CD3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8028"/>
            <a:ext cx="10795652" cy="623454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DA39C0-7276-52D8-CE95-6E7B7DBB2001}"/>
              </a:ext>
            </a:extLst>
          </p:cNvPr>
          <p:cNvSpPr txBox="1"/>
          <p:nvPr/>
        </p:nvSpPr>
        <p:spPr>
          <a:xfrm>
            <a:off x="-1" y="29540"/>
            <a:ext cx="8692587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Ejemplo:</a:t>
            </a:r>
          </a:p>
          <a:p>
            <a:r>
              <a:rPr lang="es-MX" dirty="0"/>
              <a:t>Es una pila tipo LIFO (el último que entra, es el primero que sale).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5EFCEC-62B4-5F1C-DE52-DDFB69BBC661}"/>
              </a:ext>
            </a:extLst>
          </p:cNvPr>
          <p:cNvSpPr txBox="1"/>
          <p:nvPr/>
        </p:nvSpPr>
        <p:spPr>
          <a:xfrm>
            <a:off x="9151521" y="2135277"/>
            <a:ext cx="2849707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MX" sz="1800" dirty="0"/>
              <a:t>Tiene: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/>
              <a:t>txtData</a:t>
            </a:r>
            <a:r>
              <a:rPr lang="es-MX" sz="1800" dirty="0"/>
              <a:t>: donde el usuario escribe el </a:t>
            </a:r>
            <a:r>
              <a:rPr lang="es-MX" sz="1800" dirty="0" err="1"/>
              <a:t>datotxt</a:t>
            </a:r>
            <a:endParaRPr lang="es-MX" sz="1800" dirty="0"/>
          </a:p>
          <a:p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/>
              <a:t>Area</a:t>
            </a:r>
            <a:r>
              <a:rPr lang="es-MX" sz="1800" dirty="0"/>
              <a:t>: donde se muestra la pila</a:t>
            </a:r>
          </a:p>
          <a:p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/>
              <a:t>Stack&lt;String&gt; </a:t>
            </a:r>
            <a:r>
              <a:rPr lang="es-MX" sz="1800" dirty="0" err="1"/>
              <a:t>stack</a:t>
            </a:r>
            <a:r>
              <a:rPr lang="es-MX" sz="1800" dirty="0"/>
              <a:t> = new Stack&lt;&gt;(): la pila real</a:t>
            </a:r>
            <a:endParaRPr lang="es-MX" dirty="0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3AD8570A-FB7E-4158-2D7A-662E88619710}"/>
              </a:ext>
            </a:extLst>
          </p:cNvPr>
          <p:cNvSpPr/>
          <p:nvPr/>
        </p:nvSpPr>
        <p:spPr>
          <a:xfrm>
            <a:off x="7010400" y="2753361"/>
            <a:ext cx="132080" cy="47752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CAD28E8-A1F2-EEFD-2899-67229B336AA7}"/>
              </a:ext>
            </a:extLst>
          </p:cNvPr>
          <p:cNvCxnSpPr>
            <a:cxnSpLocks/>
          </p:cNvCxnSpPr>
          <p:nvPr/>
        </p:nvCxnSpPr>
        <p:spPr>
          <a:xfrm>
            <a:off x="6096000" y="2468880"/>
            <a:ext cx="3055521" cy="121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16872786-C281-3D97-1C44-64E6CE637398}"/>
              </a:ext>
            </a:extLst>
          </p:cNvPr>
          <p:cNvSpPr/>
          <p:nvPr/>
        </p:nvSpPr>
        <p:spPr>
          <a:xfrm>
            <a:off x="5811520" y="2265681"/>
            <a:ext cx="132080" cy="48768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8E67620-0996-830F-431E-F73778815DB4}"/>
              </a:ext>
            </a:extLst>
          </p:cNvPr>
          <p:cNvCxnSpPr>
            <a:endCxn id="6" idx="1"/>
          </p:cNvCxnSpPr>
          <p:nvPr/>
        </p:nvCxnSpPr>
        <p:spPr>
          <a:xfrm>
            <a:off x="7284720" y="2997200"/>
            <a:ext cx="1866801" cy="707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680CD94-3C8E-1CEC-847B-97FA4B0A0FB2}"/>
              </a:ext>
            </a:extLst>
          </p:cNvPr>
          <p:cNvCxnSpPr>
            <a:cxnSpLocks/>
          </p:cNvCxnSpPr>
          <p:nvPr/>
        </p:nvCxnSpPr>
        <p:spPr>
          <a:xfrm>
            <a:off x="7142480" y="3129280"/>
            <a:ext cx="2009041" cy="13309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96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842D85-C7CD-F06A-5906-FEE7203DE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98"/>
          <a:stretch>
            <a:fillRect/>
          </a:stretch>
        </p:blipFill>
        <p:spPr>
          <a:xfrm>
            <a:off x="613062" y="764568"/>
            <a:ext cx="7308273" cy="606063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536183F-EC42-53F4-80AA-37D6416F605F}"/>
              </a:ext>
            </a:extLst>
          </p:cNvPr>
          <p:cNvSpPr txBox="1"/>
          <p:nvPr/>
        </p:nvSpPr>
        <p:spPr>
          <a:xfrm>
            <a:off x="220806" y="108077"/>
            <a:ext cx="8321310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s-MX" dirty="0"/>
              <a:t>Realice la parte visual de la pila y el botón para cerrar y volver al menú.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8B5A82-D3A4-9AC5-6066-5777D7B875E4}"/>
              </a:ext>
            </a:extLst>
          </p:cNvPr>
          <p:cNvSpPr txBox="1"/>
          <p:nvPr/>
        </p:nvSpPr>
        <p:spPr>
          <a:xfrm>
            <a:off x="4938452" y="1636990"/>
            <a:ext cx="4714875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onClear</a:t>
            </a:r>
            <a:r>
              <a:rPr lang="es-MX" dirty="0"/>
              <a:t>() - Vaciar </a:t>
            </a:r>
            <a:r>
              <a:rPr lang="es-MX" dirty="0" err="1"/>
              <a:t>pila:stack.clear</a:t>
            </a:r>
            <a:r>
              <a:rPr lang="es-MX" dirty="0"/>
              <a:t>() borra todo y actualiza la vista.</a:t>
            </a:r>
          </a:p>
          <a:p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1BC812C-069C-AA3E-25DC-BD9E01184225}"/>
              </a:ext>
            </a:extLst>
          </p:cNvPr>
          <p:cNvCxnSpPr>
            <a:cxnSpLocks/>
          </p:cNvCxnSpPr>
          <p:nvPr/>
        </p:nvCxnSpPr>
        <p:spPr>
          <a:xfrm>
            <a:off x="3002280" y="1889760"/>
            <a:ext cx="17145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3F145F94-AD8F-0C48-794E-5AF4ADCBC2EF}"/>
              </a:ext>
            </a:extLst>
          </p:cNvPr>
          <p:cNvSpPr/>
          <p:nvPr/>
        </p:nvSpPr>
        <p:spPr>
          <a:xfrm>
            <a:off x="2682240" y="1636990"/>
            <a:ext cx="205740" cy="473750"/>
          </a:xfrm>
          <a:prstGeom prst="rightBrace">
            <a:avLst>
              <a:gd name="adj1" fmla="val 30555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576768-7B7C-7A6A-AD6B-C8B09DC44E0C}"/>
              </a:ext>
            </a:extLst>
          </p:cNvPr>
          <p:cNvSpPr txBox="1"/>
          <p:nvPr/>
        </p:nvSpPr>
        <p:spPr>
          <a:xfrm>
            <a:off x="4770120" y="3025113"/>
            <a:ext cx="609600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/>
              <a:t>updateDisplay</a:t>
            </a:r>
            <a:r>
              <a:rPr lang="es-MX" sz="1800" dirty="0"/>
              <a:t>() - Mostrar </a:t>
            </a:r>
            <a:r>
              <a:rPr lang="es-MX" sz="1800" dirty="0" err="1"/>
              <a:t>pila:Si</a:t>
            </a:r>
            <a:r>
              <a:rPr lang="es-MX" sz="1800" dirty="0"/>
              <a:t> está vacía pone “Stack </a:t>
            </a:r>
            <a:r>
              <a:rPr lang="es-MX" sz="1800" dirty="0" err="1"/>
              <a:t>is</a:t>
            </a:r>
            <a:r>
              <a:rPr lang="es-MX" sz="1800" dirty="0"/>
              <a:t> </a:t>
            </a:r>
            <a:r>
              <a:rPr lang="es-MX" sz="1800" dirty="0" err="1"/>
              <a:t>empty</a:t>
            </a:r>
            <a:r>
              <a:rPr lang="es-MX" sz="1800" dirty="0"/>
              <a:t>”.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3E7FB9-1837-1A85-5046-289E0A71DBB2}"/>
              </a:ext>
            </a:extLst>
          </p:cNvPr>
          <p:cNvSpPr txBox="1"/>
          <p:nvPr/>
        </p:nvSpPr>
        <p:spPr>
          <a:xfrm>
            <a:off x="4873335" y="5048935"/>
            <a:ext cx="6096000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/>
              <a:t>backToMenu</a:t>
            </a:r>
            <a:r>
              <a:rPr lang="es-MX" sz="1800" dirty="0"/>
              <a:t>() - </a:t>
            </a:r>
            <a:r>
              <a:rPr lang="es-MX" sz="1800" dirty="0" err="1"/>
              <a:t>Regresar:Cierra</a:t>
            </a:r>
            <a:r>
              <a:rPr lang="es-MX" sz="1800" dirty="0"/>
              <a:t> la ventana actual </a:t>
            </a:r>
            <a:r>
              <a:rPr lang="es-MX" sz="1800" dirty="0" err="1"/>
              <a:t>currentStage.close</a:t>
            </a:r>
            <a:r>
              <a:rPr lang="es-MX" sz="1800" dirty="0"/>
              <a:t>() y te regresa al menú principal.</a:t>
            </a:r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42C4F207-E7F1-D24C-2BA0-8545FD08F217}"/>
              </a:ext>
            </a:extLst>
          </p:cNvPr>
          <p:cNvSpPr/>
          <p:nvPr/>
        </p:nvSpPr>
        <p:spPr>
          <a:xfrm>
            <a:off x="3798570" y="2461260"/>
            <a:ext cx="361950" cy="563853"/>
          </a:xfrm>
          <a:prstGeom prst="rightBrace">
            <a:avLst>
              <a:gd name="adj1" fmla="val 1254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B46BC5E-92F6-CA78-BD63-560BAC7641EA}"/>
              </a:ext>
            </a:extLst>
          </p:cNvPr>
          <p:cNvCxnSpPr>
            <a:cxnSpLocks/>
          </p:cNvCxnSpPr>
          <p:nvPr/>
        </p:nvCxnSpPr>
        <p:spPr>
          <a:xfrm>
            <a:off x="4213860" y="2743187"/>
            <a:ext cx="556260" cy="4495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errar llave 19">
            <a:extLst>
              <a:ext uri="{FF2B5EF4-FFF2-40B4-BE49-F238E27FC236}">
                <a16:creationId xmlns:a16="http://schemas.microsoft.com/office/drawing/2014/main" id="{423EA155-F9ED-FC87-1996-55B06016C0BC}"/>
              </a:ext>
            </a:extLst>
          </p:cNvPr>
          <p:cNvSpPr/>
          <p:nvPr/>
        </p:nvSpPr>
        <p:spPr>
          <a:xfrm>
            <a:off x="4069080" y="4968240"/>
            <a:ext cx="266700" cy="784857"/>
          </a:xfrm>
          <a:prstGeom prst="rightBrace">
            <a:avLst>
              <a:gd name="adj1" fmla="val 36904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508C526-9719-1CF2-6DAF-45BB85593080}"/>
              </a:ext>
            </a:extLst>
          </p:cNvPr>
          <p:cNvCxnSpPr/>
          <p:nvPr/>
        </p:nvCxnSpPr>
        <p:spPr>
          <a:xfrm flipV="1">
            <a:off x="4396740" y="5280660"/>
            <a:ext cx="476595" cy="53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44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A69D26-4819-46DB-9186-F6E90FF5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9" r="22751" b="-1"/>
          <a:stretch>
            <a:fillRect/>
          </a:stretch>
        </p:blipFill>
        <p:spPr>
          <a:xfrm>
            <a:off x="321732" y="993607"/>
            <a:ext cx="5668684" cy="57436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F431D0-CB13-C05A-5756-BB3AD304B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2595" b="-1"/>
          <a:stretch>
            <a:fillRect/>
          </a:stretch>
        </p:blipFill>
        <p:spPr>
          <a:xfrm>
            <a:off x="6201586" y="1145553"/>
            <a:ext cx="5674893" cy="57436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B55A183-4D3C-4BBB-29B0-FF9D79EB99DB}"/>
              </a:ext>
            </a:extLst>
          </p:cNvPr>
          <p:cNvSpPr txBox="1"/>
          <p:nvPr/>
        </p:nvSpPr>
        <p:spPr>
          <a:xfrm>
            <a:off x="114069" y="70277"/>
            <a:ext cx="572740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Resultado de que realmente funciona nuestro programa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B7852B-788D-CA02-57B0-FF63DDAE17C2}"/>
              </a:ext>
            </a:extLst>
          </p:cNvPr>
          <p:cNvSpPr txBox="1"/>
          <p:nvPr/>
        </p:nvSpPr>
        <p:spPr>
          <a:xfrm>
            <a:off x="2729514" y="62427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ANTES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4CB22B-CC41-42C9-E0C5-BED8DF3DB805}"/>
              </a:ext>
            </a:extLst>
          </p:cNvPr>
          <p:cNvSpPr txBox="1"/>
          <p:nvPr/>
        </p:nvSpPr>
        <p:spPr>
          <a:xfrm>
            <a:off x="9195954" y="776221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DESPUES</a:t>
            </a:r>
          </a:p>
        </p:txBody>
      </p:sp>
    </p:spTree>
    <p:extLst>
      <p:ext uri="{BB962C8B-B14F-4D97-AF65-F5344CB8AC3E}">
        <p14:creationId xmlns:p14="http://schemas.microsoft.com/office/powerpoint/2010/main" val="401691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8A4126-FBAE-4C45-EE83-64E8CBBB6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909" y="1382985"/>
            <a:ext cx="9736181" cy="547501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59A740B-4EA8-57B7-1E0B-A1D9FDA53018}"/>
              </a:ext>
            </a:extLst>
          </p:cNvPr>
          <p:cNvSpPr txBox="1"/>
          <p:nvPr/>
        </p:nvSpPr>
        <p:spPr>
          <a:xfrm>
            <a:off x="5257801" y="737754"/>
            <a:ext cx="188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VACIAR O CLARA</a:t>
            </a:r>
          </a:p>
        </p:txBody>
      </p:sp>
    </p:spTree>
    <p:extLst>
      <p:ext uri="{BB962C8B-B14F-4D97-AF65-F5344CB8AC3E}">
        <p14:creationId xmlns:p14="http://schemas.microsoft.com/office/powerpoint/2010/main" val="24635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B2243-6CC5-09D5-03B1-3936CB13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7FA622-07B0-77F5-C6EB-26C1A226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final sí me quedó funcionando.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MainController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abre las ventanas sin problema y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StackController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ya hace todo lo de la pila: agregar, quitar, limpiar y mostrarla. Me quedó más claro lo de LIFO y cómo se organiza un proyecto con Maven en controladores y vistas</a:t>
            </a:r>
          </a:p>
        </p:txBody>
      </p:sp>
    </p:spTree>
    <p:extLst>
      <p:ext uri="{BB962C8B-B14F-4D97-AF65-F5344CB8AC3E}">
        <p14:creationId xmlns:p14="http://schemas.microsoft.com/office/powerpoint/2010/main" val="1244901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1FE0E-EAD4-483F-9D6E-75D21057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02FF34-FB40-24AC-DA99-BB9EC8394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ENSEÑANZAS DEL ING FRANCISCO JAVIER MINGO VELAZQUEZ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8053674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Paquete</Template>
  <TotalTime>1050</TotalTime>
  <Words>469</Words>
  <Application>Microsoft Office PowerPoint</Application>
  <PresentationFormat>Panorámica</PresentationFormat>
  <Paragraphs>42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Paquete</vt:lpstr>
      <vt:lpstr>Presentación de PowerPoint</vt:lpstr>
      <vt:lpstr>INTRODUCCIÓN</vt:lpstr>
      <vt:lpstr>JUSTIFICACIÓN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MARISOL LOPEZ RAMIREZ</dc:creator>
  <cp:lastModifiedBy>MARISOL LOPEZ RAMIREZ</cp:lastModifiedBy>
  <cp:revision>4</cp:revision>
  <dcterms:created xsi:type="dcterms:W3CDTF">2026-10-08T05:08:20Z</dcterms:created>
  <dcterms:modified xsi:type="dcterms:W3CDTF">2026-10-08T22:38:27Z</dcterms:modified>
</cp:coreProperties>
</file>